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_tf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_tf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9"/>
    <p:sldId id="257" r:id="rId10"/>
    <p:sldId id="258" r:id="rId11"/>
    <p:sldId id="259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printerSettings" Target="printerSettings/printerSettings1.bin" /><Relationship Id="rId3" Type="http://schemas.openxmlformats.org/officeDocument/2006/relationships/presProps" Target="presProps.xml" /><Relationship Id="rId4" Type="http://schemas.openxmlformats.org/officeDocument/2006/relationships/viewProps" Target="viewProps.xml" /><Relationship Id="rId5" Type="http://schemas.openxmlformats.org/officeDocument/2006/relationships/theme" Target="theme/theme1.xml" /><Relationship Id="rId6" Type="http://schemas.openxmlformats.org/officeDocument/2006/relationships/tableStyles" Target="tableStyles.xml" /><Relationship Id="rId8" Type="http://schemas.openxmlformats.org/officeDocument/2006/relationships/notesMaster" Target="notesMasters/notesMaster1.xml" /><Relationship Id="rId9" Type="http://schemas.openxmlformats.org/officeDocument/2006/relationships/slide" Target="slides/slide1.xml" /><Relationship Id="rId10" Type="http://schemas.openxmlformats.org/officeDocument/2006/relationships/slide" Target="slides/slide2.xml" /><Relationship Id="rId11" Type="http://schemas.openxmlformats.org/officeDocument/2006/relationships/slide" Target="slides/slide3.xml" /><Relationship Id="rId12" Type="http://schemas.openxmlformats.org/officeDocument/2006/relationships/slide" Target="slides/slide4.xml" /></Relationships>
</file>

<file path=ppt/charts/_rels/chart1_tf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_tf1.xlsx"/></Relationships>
</file>

<file path=ppt/charts/chart1_tf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41.0</c:v>
                </c:pt>
                <c:pt idx="1">
                  <c:v>44.5</c:v>
                </c:pt>
                <c:pt idx="2">
                  <c:v>48.2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_tf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.xml" 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US" dirty="0"/>
              <a:t>Pause after the margin line.</a:t>
            </a:r>
          </a:p>
        </p:txBody>
      </p:sp>
    </p:spTree>
  </p:cSld>
  <p:clrMapOvr>
    <a:masterClrMapping/>
  </p:clrMapOvr>
</p:notes>
</file>

<file path=ppt/notesSlides/notesSlide1_tf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zh-CN"/>
              <a:t>Welcome everyone. Keep this under one minute.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US" dirty="0"/>
              <a:t>Priorities for next quarter.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1_tf1.xml" 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6.xml" /><Relationship Id="rId2" Type="http://schemas.openxmlformats.org/officeDocument/2006/relationships/chart" Target="../charts/chart1_tf1.xml" 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t>Q3 FY2026 Quarterly Business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Strategy Office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/>
            <a:r>
              <a:t>Revenue reached $48.2M, up 18% year over year and 6% above plan</a:t>
            </a:r>
          </a:p>
          <a:p>
            <a:pPr lvl="1"/>
            <a:r>
              <a:t>Growth driven by three new strategic accounts in the DACH and Nordics regions</a:t>
            </a:r>
          </a:p>
          <a:p>
            <a:pPr/>
            <a:r>
              <a:t>Gross margin improved to 64.1% as discounting discipline held across all segments</a:t>
            </a:r>
          </a:p>
          <a:p>
            <a:pPr lvl="1"/>
            <a:r>
              <a:t>Average discount on new business fell from 22% to 14%</a:t>
            </a:r>
          </a:p>
          <a:p>
            <a:pPr/>
            <a:r>
              <a:t>Pipeline coverage for next quarter stands at 3.4x with healthy late-stage mix</a:t>
            </a:r>
          </a:p>
          <a:p>
            <a:pPr lvl="1"/>
            <a:r>
              <a:t>Public sector deals remain dependent on budget approvals</a:t>
            </a:r>
          </a:p>
          <a:p>
            <a:pPr/>
            <a:r>
              <a:t>Hiring plan on track: 42 of 45 roles filled, attrition below 8%</a:t>
            </a:r>
          </a:p>
        </p:txBody>
      </p:sp>
      <p:sp>
        <p:nvSpPr>
          <p:cNvPr id="4" name="KPI Callout"/>
          <p:cNvSpPr txBox="1"/>
          <p:nvPr/>
        </p:nvSpPr>
        <p:spPr>
          <a:xfrm>
            <a:off x="700000" y="5900000"/>
            <a:ext cx="60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/>
              <a:t>Revenue: </a:t>
            </a:r>
            <a:r>
              <a:rPr sz="1800"/>
              <a:t>48.2M USD</a:t>
            </a:r>
          </a:p>
        </p:txBody>
      </p:sp>
    </p:spTree>
  </p:cSld>
  <p:clrMapOvr>
    <a:masterClrMapping/>
  </p:clrMapOvr>
  <p:transition p14:dur="600" advClick="1">
    <p:push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Pipeline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00000" y="1700000"/>
          <a:ext cx="6000000" cy="1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000"/>
                <a:gridCol w="2000000"/>
                <a:gridCol w="2000000"/>
              </a:tblGrid>
              <a:tr h="400000">
                <a:tc>
                  <a:txBody>
                    <a:bodyPr/>
                    <a:lstStyle/>
                    <a:p>
                      <a:r>
                        <a:t>Stage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/>
                </a:tc>
              </a:tr>
              <a:tr h="400000">
                <a:tc>
                  <a:txBody>
                    <a:bodyPr/>
                    <a:lstStyle/>
                    <a:p>
                      <a:r>
                        <a:t>Lead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1.0M</a:t>
                      </a:r>
                    </a:p>
                  </a:txBody>
                  <a:tcPr/>
                </a:tc>
              </a:tr>
              <a:tr h="400000">
                <a:tc>
                  <a:txBody>
                    <a:bodyPr/>
                    <a:lstStyle/>
                    <a:p>
                      <a:r>
                        <a:t>Won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0.9M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000000" y="1700000"/>
          <a:ext cx="4500000" cy="30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/>
            <a:r>
              <a:t>Close three public sector deals</a:t>
            </a:r>
          </a:p>
          <a:p>
            <a:pPr/>
            <a:r>
              <a:t>Hire two account executives</a:t>
            </a:r>
          </a:p>
          <a:p>
            <a:pPr/>
            <a:r>
              <a:t>Launch the partner program</a:t>
            </a:r>
          </a:p>
        </p:txBody>
      </p:sp>
      <p:sp>
        <p:nvSpPr>
          <p:cNvPr id="4" name="KPI Callout"/>
          <p:cNvSpPr txBox="1"/>
          <p:nvPr/>
        </p:nvSpPr>
        <p:spPr>
          <a:xfrm>
            <a:off x="700000" y="5900000"/>
            <a:ext cx="60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/>
              <a:t>Revenue: </a:t>
            </a:r>
            <a:r>
              <a:rPr sz="1800"/>
              <a:t>12.5M USD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1</ns0:TotalTime>
  <ns0:Words>0</ns0:Words>
  <ns0:Application>Microsoft Macintosh PowerPoint</ns0:Application>
  <ns0:PresentationFormat>On-screen Show (4:3)</ns0:PresentationFormat>
  <ns0:Paragraphs>0</ns0:Paragraphs>
  <ns0:Slides>4</ns0:Slides>
  <ns0:Notes>0</ns0:Notes>
  <ns0:HiddenSlides>0</ns0:HiddenSlides>
  <ns0:MMClips>0</ns0:MMClips>
  <ns0:ScaleCrop>false</ns0:ScaleCrop>
  <ns0:HeadingPairs>
    <ns1:vector size="4" baseType="variant">
      <ns1:variant>
        <ns1:lpstr>Theme</ns1:lpstr>
      </ns1:variant>
      <ns1:variant>
        <ns1:i4>1</ns1:i4>
      </ns1:variant>
      <ns1:variant>
        <ns1:lpstr>Slide Titles</ns1:lpstr>
      </ns1:variant>
      <ns1:variant>
        <ns1:i4>0</ns1:i4>
      </ns1:variant>
    </ns1:vector>
  </ns0:HeadingPairs>
  <ns0:TitlesOfParts>
    <ns1:vector size="1" baseType="lpstr">
      <ns1:lpstr>Office Theme</ns1:lpstr>
    </ns1:vector>
  </ns0:TitlesOfParts>
  <ns0:Manager/>
  <ns0:Company/>
  <ns0:LinksUpToDate>false</ns0:LinksUpToDate>
  <ns0:SharedDoc>false</ns0:SharedDoc>
  <ns0:HyperlinkBase/>
  <ns0:HyperlinksChanged>false</ns0:HyperlinksChanged>
  <ns0:AppVersion>14.0000</ns0:AppVersion>
</ns0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